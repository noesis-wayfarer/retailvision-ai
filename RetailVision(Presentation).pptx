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60" r:id="rId6"/>
    <p:sldId id="261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093A4F-2146-412A-8FB1-2D62D7150315}" v="21" dt="2026-06-28T21:10:06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1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49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D5C5-A5C1-EBE8-145F-6D64A3EE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684D0-8CBF-E0B6-49EB-6C3F3E1DF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C0C57-1210-750A-2618-D0302728B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249E9-5B5B-985D-07A7-6B442E0F2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42681" y="6857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u="sng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RetailVisionAI</a:t>
            </a:r>
            <a:endParaRPr lang="en-US" sz="3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421237" y="3689503"/>
            <a:ext cx="4722763" cy="145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------------------------------------------------------------------------------------------------------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			 Internship Organization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Naveen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Gundyagol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TANSAM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(AI &amp; ML)		 Tamil Nadu Smart and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Joy University			 Advanced Manufacturing Centre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48C34-774F-344D-5102-C55F95CD8946}"/>
              </a:ext>
            </a:extLst>
          </p:cNvPr>
          <p:cNvSpPr txBox="1"/>
          <p:nvPr/>
        </p:nvSpPr>
        <p:spPr>
          <a:xfrm>
            <a:off x="4261899" y="1453997"/>
            <a:ext cx="45720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Intelligent Video Analytics for Retail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CCTV Footage into Actionable Business Intelligence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035010-F6F5-07DF-C16F-463AABB5C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036"/>
          <a:stretch>
            <a:fillRect/>
          </a:stretch>
        </p:blipFill>
        <p:spPr>
          <a:xfrm>
            <a:off x="0" y="0"/>
            <a:ext cx="42618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6" y="443454"/>
            <a:ext cx="5147319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Challenges in Retail Surveillance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57522" y="1115113"/>
            <a:ext cx="49167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retail surveillance systems primarily serve security purposes, leaving valuable customer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operational insights largely unexplored. Manual video analysis is time-consuming and does not provide meaningful business intelligence.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33069" y="2240400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📹 CCTV footage is primarily used for security monitoring. 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Customer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hidden.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⏱ Manual video analysis is time-consuming and inefficient.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📊 Limited insights for improving store layout and operations.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33070" y="3549774"/>
            <a:ext cx="4722763" cy="793775"/>
          </a:xfrm>
          <a:prstGeom prst="roundRect">
            <a:avLst>
              <a:gd name="adj" fmla="val 26790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4326708" y="3685992"/>
            <a:ext cx="41783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IN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Opportunity:</a:t>
            </a:r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surveillance footage into actionable business insights using AI-powered customer detection, tracking, and analytics.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5CF91-0045-BC8B-3101-77C2DC18A63E}"/>
              </a:ext>
            </a:extLst>
          </p:cNvPr>
          <p:cNvSpPr txBox="1"/>
          <p:nvPr/>
        </p:nvSpPr>
        <p:spPr>
          <a:xfrm>
            <a:off x="3925116" y="36503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💡</a:t>
            </a:r>
          </a:p>
        </p:txBody>
      </p:sp>
      <p:pic>
        <p:nvPicPr>
          <p:cNvPr id="15" name="Picture 14" descr="The image depicts a futuristic, high-tech control room with a large, black camera surveillance system dominating the center, surrounded by numerous electronic panels and machinery.&#10;&#10;AI-generated content may be incorrect.">
            <a:extLst>
              <a:ext uri="{FF2B5EF4-FFF2-40B4-BE49-F238E27FC236}">
                <a16:creationId xmlns:a16="http://schemas.microsoft.com/office/drawing/2014/main" id="{2194ABAA-D654-6C38-2CCA-A0FD8459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3496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76932"/>
            <a:ext cx="3070994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Project 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0686" y="1009343"/>
            <a:ext cx="4647804" cy="857397"/>
          </a:xfrm>
          <a:prstGeom prst="roundRect">
            <a:avLst>
              <a:gd name="adj" fmla="val 206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475246" y="109355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Customer Detection 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7941" y="1359545"/>
            <a:ext cx="472276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customers in retail surveillance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Shape 4"/>
          <p:cNvSpPr/>
          <p:nvPr/>
        </p:nvSpPr>
        <p:spPr>
          <a:xfrm>
            <a:off x="360686" y="2017141"/>
            <a:ext cx="4647802" cy="911717"/>
          </a:xfrm>
          <a:prstGeom prst="roundRect">
            <a:avLst>
              <a:gd name="adj" fmla="val 206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461144" y="2152576"/>
            <a:ext cx="166181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Multi-Object Tracking :</a:t>
            </a:r>
          </a:p>
        </p:txBody>
      </p:sp>
      <p:sp>
        <p:nvSpPr>
          <p:cNvPr id="9" name="Text 6"/>
          <p:cNvSpPr/>
          <p:nvPr/>
        </p:nvSpPr>
        <p:spPr>
          <a:xfrm>
            <a:off x="507467" y="2428949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customer across video frames using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72035" y="3096926"/>
            <a:ext cx="4636456" cy="800731"/>
          </a:xfrm>
          <a:prstGeom prst="roundRect">
            <a:avLst>
              <a:gd name="adj" fmla="val 26205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461144" y="322935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  Retail Analytics 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7467" y="3482689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Generate customer counts, dwell time and heatmaps.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814" y="4027030"/>
            <a:ext cx="4668678" cy="839538"/>
          </a:xfrm>
          <a:prstGeom prst="roundRect">
            <a:avLst>
              <a:gd name="adj" fmla="val 26205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496119" y="4079676"/>
            <a:ext cx="1889011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  Interactive Dashboard :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7941" y="4366915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Visualize insights using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81CDC-5674-2F25-25B3-FC114934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80B389C-EE78-E98D-9B8F-EB0102D7049A}"/>
              </a:ext>
            </a:extLst>
          </p:cNvPr>
          <p:cNvSpPr/>
          <p:nvPr/>
        </p:nvSpPr>
        <p:spPr>
          <a:xfrm>
            <a:off x="3074330" y="219260"/>
            <a:ext cx="420298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26F43D6-D918-7120-13A3-9F65774A05A0}"/>
              </a:ext>
            </a:extLst>
          </p:cNvPr>
          <p:cNvSpPr/>
          <p:nvPr/>
        </p:nvSpPr>
        <p:spPr>
          <a:xfrm>
            <a:off x="945724" y="782160"/>
            <a:ext cx="12054177" cy="43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endParaRPr lang="en-IN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21DFFBC-3EB2-2966-E48D-7E82C25A7761}"/>
              </a:ext>
            </a:extLst>
          </p:cNvPr>
          <p:cNvSpPr/>
          <p:nvPr/>
        </p:nvSpPr>
        <p:spPr>
          <a:xfrm>
            <a:off x="3925119" y="2885405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endParaRPr lang="en-US" sz="1100" dirty="0"/>
          </a:p>
        </p:txBody>
      </p:sp>
      <p:pic>
        <p:nvPicPr>
          <p:cNvPr id="7" name="Picture 6" descr="The diagram illustrates a multi-step process for analyzing video footage in a retail store, including person detection, tracking, analytics, and data visualization, using technologies like YOLOv8, DeepSORT, and Streamlit.&#10;&#10;AI-generated content may be incorrect.">
            <a:extLst>
              <a:ext uri="{FF2B5EF4-FFF2-40B4-BE49-F238E27FC236}">
                <a16:creationId xmlns:a16="http://schemas.microsoft.com/office/drawing/2014/main" id="{5F9E6798-1452-8A85-D731-9F60659D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33"/>
          <a:stretch>
            <a:fillRect/>
          </a:stretch>
        </p:blipFill>
        <p:spPr>
          <a:xfrm>
            <a:off x="0" y="631458"/>
            <a:ext cx="9144000" cy="436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81751" y="461819"/>
            <a:ext cx="25836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Technology Stack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392" y="1171236"/>
            <a:ext cx="265807" cy="2658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392" y="148381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Python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16987" y="1416610"/>
            <a:ext cx="47872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Core Programming Language.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Pandas (Analytics and CSV Reports)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420" y="2053284"/>
            <a:ext cx="265807" cy="2658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04903" y="2339576"/>
            <a:ext cx="1329035" cy="19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OpenCV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812404" y="2359979"/>
            <a:ext cx="47872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Video Processing.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1199" y="2940914"/>
            <a:ext cx="265807" cy="2658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04903" y="325295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YOLOv8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 err="1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DeepSORT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812404" y="3228934"/>
            <a:ext cx="47872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Person Detection 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Multi-Object Tracking.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1199" y="3924698"/>
            <a:ext cx="265807" cy="2658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704903" y="415915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Streamlit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5764695" y="4176422"/>
            <a:ext cx="47872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Interactive 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A0C733-716B-F624-29E0-4B71C1801B31}"/>
              </a:ext>
            </a:extLst>
          </p:cNvPr>
          <p:cNvSpPr/>
          <p:nvPr/>
        </p:nvSpPr>
        <p:spPr>
          <a:xfrm>
            <a:off x="4453217" y="238708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4" name="Picture 3" descr="The image showcases a laptop screen displaying various programming languages and tools, including Python, OpenCV, YOLOv8, DeepSORT, Pandas, and Streamlit, with a background of a network of blue lines suggesting integration or data flow.&#10;&#10;AI-generated content may be incorrect.">
            <a:extLst>
              <a:ext uri="{FF2B5EF4-FFF2-40B4-BE49-F238E27FC236}">
                <a16:creationId xmlns:a16="http://schemas.microsoft.com/office/drawing/2014/main" id="{AC745F76-CAEA-4B84-0335-A946031019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387" r="26604"/>
          <a:stretch>
            <a:fillRect/>
          </a:stretch>
        </p:blipFill>
        <p:spPr>
          <a:xfrm>
            <a:off x="0" y="0"/>
            <a:ext cx="455644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43639"/>
            <a:ext cx="336820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0067" y="114595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RetailVisionAI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retail surveillance footage to detect customers, monitor their movement, and generate actionable retail analytics in real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48594" y="1963043"/>
            <a:ext cx="2290465" cy="1308571"/>
          </a:xfrm>
          <a:prstGeom prst="roundRect">
            <a:avLst>
              <a:gd name="adj" fmla="val 16251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333956" y="20428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Customer Detection</a:t>
            </a:r>
          </a:p>
        </p:txBody>
      </p:sp>
      <p:sp>
        <p:nvSpPr>
          <p:cNvPr id="7" name="Text 4"/>
          <p:cNvSpPr/>
          <p:nvPr/>
        </p:nvSpPr>
        <p:spPr>
          <a:xfrm>
            <a:off x="299440" y="2372712"/>
            <a:ext cx="2046442" cy="782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3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detected using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assigned unique IDs with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continuous tracking throughout the video.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50555" y="1961704"/>
            <a:ext cx="2290539" cy="1308571"/>
          </a:xfrm>
          <a:prstGeom prst="roundRect">
            <a:avLst>
              <a:gd name="adj" fmla="val 16251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2799978" y="20428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Zone-Based Analytics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879862" y="2386785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monitors customer movement across predefined store zones to calculate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count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visits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dwell time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18331" y="3527635"/>
            <a:ext cx="4722763" cy="854943"/>
          </a:xfrm>
          <a:prstGeom prst="roundRect">
            <a:avLst>
              <a:gd name="adj" fmla="val 2487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3826" y="36124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Analytics &amp; Visualization</a:t>
            </a:r>
          </a:p>
        </p:txBody>
      </p:sp>
      <p:sp>
        <p:nvSpPr>
          <p:cNvPr id="13" name="Text 10"/>
          <p:cNvSpPr/>
          <p:nvPr/>
        </p:nvSpPr>
        <p:spPr>
          <a:xfrm>
            <a:off x="379140" y="3881418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data is transformed into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reports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>
              <a:lnSpc>
                <a:spcPct val="133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retail analysis.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The image depicts a store aisle with multiple people shopping and a checkout counter.&#10;&#10;AI-generated content may be incorrect.">
            <a:extLst>
              <a:ext uri="{FF2B5EF4-FFF2-40B4-BE49-F238E27FC236}">
                <a16:creationId xmlns:a16="http://schemas.microsoft.com/office/drawing/2014/main" id="{297DB3AF-3045-E5EA-84DB-175ED9DBF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55"/>
          <a:stretch>
            <a:fillRect/>
          </a:stretch>
        </p:blipFill>
        <p:spPr>
          <a:xfrm>
            <a:off x="5463081" y="0"/>
            <a:ext cx="330177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3315" y="91333"/>
            <a:ext cx="360342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Interactive Dashboard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r="4481"/>
          <a:stretch>
            <a:fillRect/>
          </a:stretch>
        </p:blipFill>
        <p:spPr>
          <a:xfrm>
            <a:off x="132536" y="605479"/>
            <a:ext cx="3632123" cy="33860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283768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590279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34450" y="734737"/>
            <a:ext cx="5012214" cy="21193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283768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590279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 t="4014"/>
          <a:stretch>
            <a:fillRect/>
          </a:stretch>
        </p:blipFill>
        <p:spPr>
          <a:xfrm>
            <a:off x="3934450" y="2854131"/>
            <a:ext cx="5012214" cy="20343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283768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590279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0B363-FF51-41E8-DBFE-DC9F2BBB55F2}"/>
              </a:ext>
            </a:extLst>
          </p:cNvPr>
          <p:cNvSpPr txBox="1"/>
          <p:nvPr/>
        </p:nvSpPr>
        <p:spPr>
          <a:xfrm>
            <a:off x="197336" y="4183513"/>
            <a:ext cx="35673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RetailVisionAI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analytics through an interactive </a:t>
            </a:r>
            <a:r>
              <a:rPr lang="en-IN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 enabling easy monitoring of customer activity and store performance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802A0C-CB15-DC1B-5803-6A80538634D2}"/>
              </a:ext>
            </a:extLst>
          </p:cNvPr>
          <p:cNvSpPr/>
          <p:nvPr/>
        </p:nvSpPr>
        <p:spPr>
          <a:xfrm>
            <a:off x="132536" y="4076610"/>
            <a:ext cx="3602625" cy="78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RetailVisionAI</a:t>
            </a:r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analytics through an interactive </a:t>
            </a:r>
            <a:r>
              <a:rPr lang="en-IN" sz="11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 enabling easy monitoring of customer activity and store performance.</a:t>
            </a:r>
          </a:p>
          <a:p>
            <a:endParaRPr lang="en-IN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0940" y="219997"/>
            <a:ext cx="426868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9010" y="2233843"/>
            <a:ext cx="4327773" cy="154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Real-time customer detection using YOLOv8</a:t>
            </a:r>
          </a:p>
          <a:p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Multi-object tracking using </a:t>
            </a:r>
            <a:r>
              <a:rPr lang="en-IN" sz="135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endParaRPr lang="en-IN" sz="13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Zone-based customer analytics and dwell time</a:t>
            </a:r>
          </a:p>
          <a:p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Heatmap generation and CSV reports</a:t>
            </a:r>
          </a:p>
          <a:p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Interactive </a:t>
            </a:r>
            <a:r>
              <a:rPr lang="en-IN" sz="135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3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</p:txBody>
      </p:sp>
      <p:sp>
        <p:nvSpPr>
          <p:cNvPr id="4" name="Shape 2"/>
          <p:cNvSpPr/>
          <p:nvPr/>
        </p:nvSpPr>
        <p:spPr>
          <a:xfrm>
            <a:off x="107496" y="3686385"/>
            <a:ext cx="4327773" cy="779562"/>
          </a:xfrm>
          <a:prstGeom prst="roundRect">
            <a:avLst>
              <a:gd name="adj" fmla="val 2727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97" y="3799259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3586" y="3753056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foundation for AI-driven retail analytics, enabling data-informed decisions for store management and customer experience optimization.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831C2-18EB-0762-97D2-8C96428EC7A9}"/>
              </a:ext>
            </a:extLst>
          </p:cNvPr>
          <p:cNvSpPr txBox="1"/>
          <p:nvPr/>
        </p:nvSpPr>
        <p:spPr>
          <a:xfrm>
            <a:off x="388302" y="865675"/>
            <a:ext cx="83059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RetailVisionAI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computer vision can transform conventional retail surveillance into a valuable analytics tool. By integrating customer detection, object tracking, and zone-based analysis, the system provides meaningful insights into customer </a:t>
            </a:r>
            <a:r>
              <a:rPr lang="en-IN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an interactive dashboard.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5E60A-976A-5349-B0B3-7AC70299DC38}"/>
              </a:ext>
            </a:extLst>
          </p:cNvPr>
          <p:cNvSpPr txBox="1"/>
          <p:nvPr/>
        </p:nvSpPr>
        <p:spPr>
          <a:xfrm>
            <a:off x="388302" y="1867271"/>
            <a:ext cx="40758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 :</a:t>
            </a: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The image shows a person walking through an aisle of a grocete store, with rows of various food and drink products behind them, and a camera above.&#10;&#10;AI-generated content may be incorrect.">
            <a:extLst>
              <a:ext uri="{FF2B5EF4-FFF2-40B4-BE49-F238E27FC236}">
                <a16:creationId xmlns:a16="http://schemas.microsoft.com/office/drawing/2014/main" id="{95DF544E-2091-3C8A-3374-F45198AD2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270" y="1837196"/>
            <a:ext cx="4445234" cy="2963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4635"/>
            <a:ext cx="2938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Scope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887462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0123" y="1233860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29733" y="1011436"/>
            <a:ext cx="193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AI-Based Customer Behavior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29733" y="1270397"/>
            <a:ext cx="411814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Leverage AI to analyze shopping patterns, customer engagement and purchasing behavior for deeper retail insights.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925119" y="1874937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0123" y="2221334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9733" y="199891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Predictive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529733" y="2257871"/>
            <a:ext cx="411814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Forecast customer traffic, peak shopping hours and store occupancy using historical analytics data.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3925119" y="2862411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0123" y="3208809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29733" y="2986385"/>
            <a:ext cx="17861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Multi-Camera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529733" y="3245346"/>
            <a:ext cx="411814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Connect multiple surveillance cameras to provide seamless customer tracking across the entire retail store.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3925119" y="3849886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0123" y="4196283"/>
            <a:ext cx="186035" cy="1860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29733" y="3973860"/>
            <a:ext cx="19704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Times New Roman" panose="02020603050405020304" pitchFamily="18" charset="0"/>
                <a:ea typeface="Alexandria Medium" pitchFamily="34" charset="-122"/>
                <a:cs typeface="Times New Roman" panose="02020603050405020304" pitchFamily="18" charset="0"/>
              </a:rPr>
              <a:t>Enhanced Privacy and Security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529733" y="4232821"/>
            <a:ext cx="411814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F Implement privacy-preserving analytics, secure data storage and role-based access for retail surveillance systems.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2093" y="179060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Thank You!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67519" y="25731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649427" y="3626991"/>
            <a:ext cx="1208073" cy="266402"/>
          </a:xfrm>
          <a:prstGeom prst="roundRect">
            <a:avLst>
              <a:gd name="adj" fmla="val 63859"/>
            </a:avLst>
          </a:prstGeom>
          <a:solidFill>
            <a:srgbClr val="CDEFFE"/>
          </a:solidFill>
          <a:ln/>
        </p:spPr>
      </p:sp>
      <p:sp>
        <p:nvSpPr>
          <p:cNvPr id="6" name="Shape 3"/>
          <p:cNvSpPr/>
          <p:nvPr/>
        </p:nvSpPr>
        <p:spPr>
          <a:xfrm>
            <a:off x="1736878" y="3702038"/>
            <a:ext cx="113407" cy="113407"/>
          </a:xfrm>
          <a:prstGeom prst="rect">
            <a:avLst/>
          </a:prstGeom>
          <a:solidFill>
            <a:srgbClr val="5B6E8C"/>
          </a:solidFill>
          <a:ln/>
        </p:spPr>
      </p:sp>
      <p:sp>
        <p:nvSpPr>
          <p:cNvPr id="7" name="Text 4"/>
          <p:cNvSpPr/>
          <p:nvPr/>
        </p:nvSpPr>
        <p:spPr>
          <a:xfrm>
            <a:off x="1882942" y="3668030"/>
            <a:ext cx="12546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  <a:hlinkClick r:id="rId3"/>
              </a:rPr>
              <a:t>RETAILVISIONAI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704677" y="2959447"/>
            <a:ext cx="847799" cy="266402"/>
          </a:xfrm>
          <a:prstGeom prst="roundRect">
            <a:avLst>
              <a:gd name="adj" fmla="val 63859"/>
            </a:avLst>
          </a:prstGeom>
          <a:noFill/>
          <a:ln/>
          <a:effectLst>
            <a:outerShdw blurRad="101600" dist="50800" dir="16200000" algn="bl" rotWithShape="0">
              <a:srgbClr val="AAE4FE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633836" y="7335398"/>
            <a:ext cx="113488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pic>
        <p:nvPicPr>
          <p:cNvPr id="11" name="Picture 10" descr="Thank you&#10;&#10;AI-generated content may be incorrect.">
            <a:extLst>
              <a:ext uri="{FF2B5EF4-FFF2-40B4-BE49-F238E27FC236}">
                <a16:creationId xmlns:a16="http://schemas.microsoft.com/office/drawing/2014/main" id="{6A4A1549-F2A8-D104-842F-F6AC85126A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39" r="19479"/>
          <a:stretch>
            <a:fillRect/>
          </a:stretch>
        </p:blipFill>
        <p:spPr>
          <a:xfrm>
            <a:off x="4454553" y="0"/>
            <a:ext cx="4689447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853AD7-195B-428F-ACFA-112A9BFE4FC2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551</Words>
  <Application>Microsoft Office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Alexandria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Noesis Celestial</dc:creator>
  <cp:lastModifiedBy>Noesis Celestial</cp:lastModifiedBy>
  <cp:revision>16</cp:revision>
  <dcterms:created xsi:type="dcterms:W3CDTF">2026-06-28T08:38:29Z</dcterms:created>
  <dcterms:modified xsi:type="dcterms:W3CDTF">2026-06-30T08:20:43Z</dcterms:modified>
</cp:coreProperties>
</file>